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6576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36576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36576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170432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70432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170432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75104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975104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1975104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975104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79776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779776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779776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779776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84448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584448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3584448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584448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38912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38912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438912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4389120"/>
            <a:ext cx="91440" cy="91440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526280"/>
            <a:ext cx="2926080" cy="34747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526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 Sprout Informatics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6400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COUNTS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CELL TYPES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3749040" y="2697480"/>
            <a:ext cx="5029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2-Day Hands-On Introduction to Single-Cell RNA-Seq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49040" y="3474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(BWiB)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Zoom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by Boston Women in Bioinformatics (BWiB)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 Sprout Informatics  ·  Supporting accessible, hands-on bioinformatics education.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7980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7980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6012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Prisni Rath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" y="1444752"/>
            <a:ext cx="2523744" cy="274320"/>
          </a:xfrm>
          <a:prstGeom prst="roundRect">
            <a:avLst>
              <a:gd name="adj" fmla="val 50000"/>
            </a:avLst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4447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Developer &amp; Instructor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81051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 genomics professional with 11+ years of experience in bioinformatics and precision medicine.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9718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linkedin.com/in/prisni-r/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960120"/>
            <a:ext cx="27980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960120"/>
            <a:ext cx="27980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96012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Liyang Dao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55848" y="1444752"/>
            <a:ext cx="2523744" cy="274320"/>
          </a:xfrm>
          <a:prstGeom prst="roundRect">
            <a:avLst>
              <a:gd name="adj" fmla="val 50000"/>
            </a:avLst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4447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960120"/>
            <a:ext cx="27980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960120"/>
            <a:ext cx="27980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960120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Maryanne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1444752"/>
            <a:ext cx="2523744" cy="274320"/>
          </a:xfrm>
          <a:prstGeom prst="roundRect">
            <a:avLst>
              <a:gd name="adj" fmla="val 50000"/>
            </a:avLst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4447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Agenda: Day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before interpreting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34747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8755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9966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goals and central question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408176"/>
            <a:ext cx="34747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40817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4173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RNA-seq vs Single-cell RNA-seq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1828800"/>
            <a:ext cx="34747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82880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183794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evolution of scRNA-seq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249424"/>
            <a:ext cx="34747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24942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22585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Genomics experiment overview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2670048"/>
            <a:ext cx="34747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67004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6791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introduction (PBMC 5k)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3090672"/>
            <a:ext cx="347472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09067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09981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(RStudio + GitHub)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3511296"/>
            <a:ext cx="347472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51129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35204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into Seurat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3931920"/>
            <a:ext cx="347472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39319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" y="39410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— UMIs, genes, % mitochondrial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" y="4352544"/>
            <a:ext cx="347472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35254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4361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strategy and biological reasoning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987552"/>
            <a:ext cx="278892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987552"/>
            <a:ext cx="2788920" cy="45720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987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Outcome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15087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leave Day 1 with a clean, filtered dataset — and a question to think about overnight.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3246120"/>
            <a:ext cx="2514600" cy="7315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246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What does a "cluster" represent biologically?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Agenda: Day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numbers into biological insight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875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0058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QC decisions from Day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4447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4447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4630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and why it matters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19019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019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19202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highly variable genes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3591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359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23774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dimensionality reduction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28163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8163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8346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visualization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32735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2735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2918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cells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37307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7307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37490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gene analysis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4187952"/>
            <a:ext cx="34747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41879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" y="420624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most abundant cell type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987552"/>
            <a:ext cx="2788920" cy="3200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987552"/>
            <a:ext cx="2788920" cy="457200"/>
          </a:xfrm>
          <a:prstGeom prst="rect">
            <a:avLst/>
          </a:prstGeom>
          <a:solidFill>
            <a:srgbClr val="B05920"/>
          </a:solidFill>
          <a:ln w="12700">
            <a:solidFill>
              <a:srgbClr val="B059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987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Outcome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1508760"/>
            <a:ext cx="2514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determine the dominant cell type in the PBMC dataset — and justify your reasoning with data.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346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601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Materials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GitHub: github.com/Sprout-Informatics/sc-cellelementary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PBMC 5k dataset — 10x Genomics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Seurat docs: satijalab.org/seurat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10x Genomics data portal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60120"/>
            <a:ext cx="283464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601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Reading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Stuart et al., Cell (2019) — Seurat integration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Luecken &amp; Theis, MSB (2019) — Best practices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9272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10x Genomics tutorials &amp; experiment guides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96012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960120"/>
            <a:ext cx="28346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9601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Environment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RStudio (Cloud / VM)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0216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Google Cloud infrastructure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0216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 packages: Seurat, dplyr, ggplot2, patchwork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4663440"/>
            <a:ext cx="8741664" cy="237744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6344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Optional Assignment: Submit a short analysis summary (plots + interpretation) — registration fee waived upon submission.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A40"/>
          </a:solidFill>
          <a:ln w="12700">
            <a:solidFill>
              <a:srgbClr val="1D3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oval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9E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Driving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9E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Entire Workshop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7724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most abundant cell type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PBMC dataset?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QC, normalization, clustering, marker genes — is a tool to answer this question.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2, you will answer it with data and justify your reasoning.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8016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Experiment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Clean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· Filtering · Setting up for biological insight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RNA-seq vs Single-Cell RNA-seq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4023360" cy="365760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4023360" cy="384048"/>
          </a:xfrm>
          <a:prstGeom prst="rect">
            <a:avLst/>
          </a:prstGeom>
          <a:solidFill>
            <a:srgbClr val="6B7E83"/>
          </a:solidFill>
          <a:ln w="12700">
            <a:solidFill>
              <a:srgbClr val="6B7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 Bulk RNA-seq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Many cells pooled together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One averaged expression signal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24140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Cannot distinguish cell types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8895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 &amp; cost-effective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3090672"/>
            <a:ext cx="3749040" cy="502920"/>
          </a:xfrm>
          <a:prstGeom prst="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182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When would bulk still be appropriate?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960120"/>
            <a:ext cx="4462272" cy="365760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960120"/>
            <a:ext cx="446227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960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 Single-Cell RNA-seq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146304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Individual cell expression profiles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26864" y="193852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Thousands of cells per experiment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26864" y="241401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Identifies distinct cell populations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26864" y="288950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Captures rare cell types &amp; states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26864" y="3090672"/>
            <a:ext cx="4206240" cy="502920"/>
          </a:xfrm>
          <a:prstGeom prst="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biological information is lost in bulk RNA-seq?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researchgate.net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Single-Cell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 are mixtures of cell types and states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114800" cy="3703320"/>
          </a:xfrm>
          <a:prstGeom prst="rect">
            <a:avLst/>
          </a:prstGeom>
          <a:solidFill>
            <a:srgbClr val="D6F4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8770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Cell Heterogeneity Diagram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sciencedirect.com/topics/medicine-and-dentistry/cell-heterogeneity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343400" cy="54864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601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give you blood — how many cell types are inside?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664208"/>
            <a:ext cx="4343400" cy="548640"/>
          </a:xfrm>
          <a:prstGeom prst="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556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Would bulk RNA-seq distinguish T cells vs B cells?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395728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487168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cell types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healthy blood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2395728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2487168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&gt;1M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84848" y="310896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profiled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scRNA-seq studies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397764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scRNA-seq lets us resolve each cell type individually — impossible with bulk.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History of Single-Cell RNA-seq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8503920" cy="73152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103120"/>
            <a:ext cx="146304" cy="146304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249424"/>
            <a:ext cx="36576" cy="36576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2286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457200" y="2542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scRNA-seq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82368" y="2103120"/>
            <a:ext cx="146304" cy="146304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7232" y="2249424"/>
            <a:ext cx="36576" cy="493776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8320" y="2743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32560" y="29992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Plate-based, low throughput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(tens–hundreds of cells)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27248" y="2103120"/>
            <a:ext cx="146304" cy="146304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63040"/>
            <a:ext cx="36576" cy="68580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1521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140817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 multi-tissue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multi-individual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72128" y="2103120"/>
            <a:ext cx="146304" cy="146304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6992" y="1371600"/>
            <a:ext cx="36576" cy="77724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8080" y="1060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2320" y="13167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Droplet-based, high throughput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(thousands–millions)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17008" y="2103120"/>
            <a:ext cx="146304" cy="146304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1872" y="2249424"/>
            <a:ext cx="36576" cy="585216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2960" y="2834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67200" y="30906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Cell-type &amp; cell-state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eQTLs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24088" y="2103120"/>
            <a:ext cx="146304" cy="146304"/>
          </a:xfrm>
          <a:prstGeom prst="oval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8952" y="1417320"/>
            <a:ext cx="36576" cy="73152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0040" y="11064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74280" y="1362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274320" cy="146304"/>
          </a:xfrm>
          <a:prstGeom prst="rect">
            <a:avLst/>
          </a:prstGeom>
          <a:solidFill>
            <a:srgbClr val="6B7E83"/>
          </a:solidFill>
          <a:ln w="12700">
            <a:solidFill>
              <a:srgbClr val="6B7E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279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Plate-based, low throughput (tens–hundreds)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26280"/>
            <a:ext cx="274320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507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Droplet-based, high throughput (thousands–millions)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617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researchgate.net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10x Genomics Experiment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554480" cy="100584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14630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1353312"/>
            <a:ext cx="20116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960120"/>
            <a:ext cx="1554480" cy="100584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56816" y="14630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Droplets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1296" y="1353312"/>
            <a:ext cx="20116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960120"/>
            <a:ext cx="1554480" cy="100584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12464" y="14630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Barcoded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66944" y="1353312"/>
            <a:ext cx="20116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960120"/>
            <a:ext cx="1554480" cy="100584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68112" y="14630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22592" y="1353312"/>
            <a:ext cx="20116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960120"/>
            <a:ext cx="15544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4630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21945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194560"/>
            <a:ext cx="1097280" cy="86868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9456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2240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DNA sequence — identifies which cell each RNA molecule came from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" y="3200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200400"/>
            <a:ext cx="1097280" cy="86868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0040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246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Molecular Identifier — counts individual RNA molecules, not just reads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81728" y="21945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2194560"/>
            <a:ext cx="1097280" cy="86868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19456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52160" y="2240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feature; one row in the count matrix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81728" y="3200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3200400"/>
            <a:ext cx="1097280" cy="86868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0040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matrix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52160" y="3246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× cells grid of UMI counts — the starting point for all analysis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1168" y="4617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scdiscoveries.com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Dataset: PBMC 5k (10x Genomics)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34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97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CELLS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2029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blood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mononuclear cells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60120"/>
            <a:ext cx="2834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097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33,500+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82112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DETECTED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82112" y="2029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960120"/>
            <a:ext cx="2834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97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63056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BARCODES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3056" y="2029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empty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droplets — QC will filter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" y="2834640"/>
            <a:ext cx="8741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Cell Types in Blood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82496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82496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63824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cells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45152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07808" y="329184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444E56"/>
          </a:solidFill>
          <a:ln w="12700">
            <a:solidFill>
              <a:srgbClr val="444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" y="3840480"/>
            <a:ext cx="8741664" cy="594360"/>
          </a:xfrm>
          <a:prstGeom prst="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931920"/>
            <a:ext cx="8467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cell types would you expect to dominate in blood? Why?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github.com/Sprout-Informatics/sc-cellelementary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 or download — all scripts and instructions inside.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" y="28346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283464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83464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RStudio Setup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10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RStudio on the provided Google Cloud VM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configure your local environment using the README.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96012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0" y="1069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Seurat Installation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43560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install.packages("Seurat")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install.packages(c("ggplot2","dplyr","patchwork"))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8346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834640"/>
            <a:ext cx="50292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83464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310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raw_feature_bc_matrix.h5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Rscript/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workshop.R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Load Data into Seurat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192024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8741664" cy="292608"/>
          </a:xfrm>
          <a:prstGeom prst="rect">
            <a:avLst/>
          </a:prstGeom>
          <a:solidFill>
            <a:srgbClr val="141F23"/>
          </a:solidFill>
          <a:ln w="12700">
            <a:solidFill>
              <a:srgbClr val="141F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workshop.R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library(Seurat)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raw 10x H5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pbmc.data &lt;- Read10X_h5("raw_feature_bc_matrix.h5")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the Seurat object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CreateSeuratObject(pbmc.data, project = "PBMC")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  # inspect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30632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306324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63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many genes?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547872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~33,500 features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82112" y="30632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306324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3063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many barcodes?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0984" y="3547872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~700,000+ (most are empty)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3056" y="30632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306324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3063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does one column represent?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3547872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cell's expression profile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Quality Control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34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601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nFeature_RNA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21615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per cell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" y="1508760"/>
            <a:ext cx="2615184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&lt; 200 → empty droplet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647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&gt; 4,000 → possible doublet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" y="21762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whether a real cell was captured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" y="2816352"/>
            <a:ext cx="2615184" cy="749808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346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does high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% indicate?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960120"/>
            <a:ext cx="283464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601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nCount_RNA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21615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UMIs per cell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508760"/>
            <a:ext cx="2615184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5361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Very low → likely empty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17647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Very high → possible doublet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1762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sequencing depth of the cell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816352"/>
            <a:ext cx="2615184" cy="749808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8346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might very low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counts indicate?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960120"/>
            <a:ext cx="283464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9601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percent.mt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121615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mitochondrial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2784" y="1508760"/>
            <a:ext cx="2615184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15361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&lt; 10–15% → healthy cell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17647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&gt; 20% → dying / damaged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1762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cells leak cytoplasmic RNA; MT RNA stays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72784" y="2816352"/>
            <a:ext cx="2615184" cy="749808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8346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could very high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counts indicate?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Filtering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4846320" cy="228600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4846320" cy="274320"/>
          </a:xfrm>
          <a:prstGeom prst="rect">
            <a:avLst/>
          </a:prstGeom>
          <a:solidFill>
            <a:srgbClr val="141F23"/>
          </a:solidFill>
          <a:ln w="12700">
            <a:solidFill>
              <a:srgbClr val="141F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workshop.R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min_genes &lt;- 200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max_genes &lt;- 3000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max_mito  &lt;- 10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subset(pbmc,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 = nFeature_RNA &gt; min_genes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nFeature_RNA &lt; max_genes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percent.mt &lt; max_mito)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3364992"/>
            <a:ext cx="4846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3649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Result: 1,700 high-quality cells retained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85232" y="960120"/>
            <a:ext cx="3639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85232" y="960120"/>
            <a:ext cx="54864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100584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min_genes = 200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3248" y="1353312"/>
            <a:ext cx="3401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empty droplets and debris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85232" y="2020824"/>
            <a:ext cx="3639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2020824"/>
            <a:ext cx="54864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06654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max_genes = 3,000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3248" y="2414016"/>
            <a:ext cx="3401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likely doublets (two cells per droplet)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85232" y="3081528"/>
            <a:ext cx="3639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3081528"/>
            <a:ext cx="54864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12724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max_mito = 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474720"/>
            <a:ext cx="3401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PBMC threshold — removes dying cells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85232" y="4114800"/>
            <a:ext cx="3639312" cy="713232"/>
          </a:xfrm>
          <a:prstGeom prst="rect">
            <a:avLst>
              <a:gd name="adj" fmla="val 128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4206240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happens if we filter too aggressively?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Could we accidentally remove a rare cell type?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A40"/>
          </a:solidFill>
          <a:ln w="12700">
            <a:solidFill>
              <a:srgbClr val="1D3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Day 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371600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Clean, filtered Seurat object with 1,700 cells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29968"/>
            <a:ext cx="6400800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029968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QC metrics computed and visualised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688336"/>
            <a:ext cx="6400800" cy="53035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688336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Filtering thresholds chosen and justified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73152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204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💭  Overnight Question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8404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cluster represent biologically?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80160"/>
            <a:ext cx="1371600" cy="347472"/>
          </a:xfrm>
          <a:prstGeom prst="roundRect">
            <a:avLst>
              <a:gd name="adj" fmla="val 3947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Clean Data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Cell Identity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· UMAP · Clustering · Marker Genes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Recap: What Did We Do Yesterday?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87416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 What is a gene × cell matrix?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Rows = genes, columns = cells, values = UMI counts. Most entries are zero (sparse).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2267712"/>
            <a:ext cx="87416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2267712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13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 What defines a "good cell"?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6974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Sufficient genes (200–3k), low mitochondrial %, UMI count correlated with gene count.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3529584"/>
            <a:ext cx="87416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3529584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5753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 Why do we need to normalize?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9593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Cells differ in sequencing depth. Raw counts are unfair to compare — normalization levels the field.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4: Normalization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80467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NormalizeData(pbmc)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Scales to 10,000 UMIs per cell, then log1p transforms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1168" y="1920240"/>
            <a:ext cx="4297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920240"/>
            <a:ext cx="4297680" cy="384048"/>
          </a:xfrm>
          <a:prstGeom prst="rect">
            <a:avLst/>
          </a:prstGeom>
          <a:solidFill>
            <a:srgbClr val="6B7E83"/>
          </a:solidFill>
          <a:ln w="12700">
            <a:solidFill>
              <a:srgbClr val="6B7E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2024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Normalization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42316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High-depth cells dominate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92608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Cell 1: 2,000 UMIs → Gene X = 4 counts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342900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Cell 2: 10,000 UMIs → Gene X = 4 counts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393192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Looks the same — but it's not!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73168" y="1920240"/>
            <a:ext cx="4297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920240"/>
            <a:ext cx="42976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2024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Normalization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242316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All cells scaled to 10,000 UMIs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292608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Cell 1: Gene X → 20 (per 10k)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42900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Cell 2: Gene X → 4 (per 10k)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3931920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Now the difference is visible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1168" y="4645152"/>
            <a:ext cx="8741664" cy="256032"/>
          </a:xfrm>
          <a:prstGeom prst="rect">
            <a:avLst>
              <a:gd name="adj" fmla="val 3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4736592"/>
            <a:ext cx="8467344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Why can't we cluster raw counts directly?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5: Highly Variable Genes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80467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FindVariableFeatures(pbmc, selection.method = "vst", nfeatures = 2000)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938528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938528"/>
            <a:ext cx="548640" cy="82296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93852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~33,000 genes are uninformative — equally expressed in all cell types (housekeeping genes)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" y="2898648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2898648"/>
            <a:ext cx="5486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89864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94436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genes with the highest cell-to-cell variation carry the most information about cell identity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1168" y="3858768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3858768"/>
            <a:ext cx="548640" cy="822960"/>
          </a:xfrm>
          <a:prstGeom prst="rect">
            <a:avLst/>
          </a:prstGeom>
          <a:solidFill>
            <a:srgbClr val="E8ECED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85876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90448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dimensions → faster PCA, less noise, cleaner clusters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50992" y="1938528"/>
            <a:ext cx="3291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50992" y="1938528"/>
            <a:ext cx="32918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93852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VST Method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2423160"/>
            <a:ext cx="307238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Variance-stabilizing transformation corrects for the mean-variance relationship in count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High-count genes have naturally higher variance — VST ensures selected genes are truly biologically variable, not just highly expressed.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4645152"/>
            <a:ext cx="8741664" cy="256032"/>
          </a:xfrm>
          <a:prstGeom prst="rect">
            <a:avLst>
              <a:gd name="adj" fmla="val 3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4736592"/>
            <a:ext cx="8467344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signal are we trying to detect by selecting variable genes?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6: PCA &amp; the Elbow Plot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54864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ScaleData(pbmc)  </a:t>
            </a:r>
            <a:pPr indent="0" marL="0">
              <a:buNone/>
            </a:pPr>
            <a:r>
              <a:rPr lang="en-US" sz="12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Center + scale each gene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RunPCA(pbmc, npcs = 50)  </a:t>
            </a:r>
            <a:pPr indent="0" marL="0">
              <a:buNone/>
            </a:pPr>
            <a:r>
              <a:rPr lang="en-US" sz="12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Compress 2,000 genes → 50 PCs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64592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764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Elbow Plot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Each PC captures a direction of maximum variance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265176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Left of elbow → biological signal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12724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Right of elbow → mostly noise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360273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This dataset: elbow ~PC 7–8; using 1:30 is conservative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1645920"/>
            <a:ext cx="4434840" cy="2926080"/>
          </a:xfrm>
          <a:prstGeom prst="rect">
            <a:avLst/>
          </a:prstGeom>
          <a:solidFill>
            <a:srgbClr val="D6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5603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Elbow Plot — pca_elbowplot.png 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on x-axis · Std. Dev. on y-axis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4645152"/>
            <a:ext cx="8741664" cy="347472"/>
          </a:xfrm>
          <a:prstGeom prst="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4736592"/>
            <a:ext cx="8467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does each PC represent?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do we choose how many PCs to keep?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7: UMAP Visualization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54864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RunUMAP(pbmc, dims = 1:30)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27632"/>
            <a:ext cx="4297680" cy="3017520"/>
          </a:xfrm>
          <a:prstGeom prst="rect">
            <a:avLst/>
          </a:prstGeom>
          <a:solidFill>
            <a:srgbClr val="D6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834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UMAP — umap_clusters.png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627632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627632"/>
            <a:ext cx="50292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62763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" y="1673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structure preserved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1984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cells on UMAP = transcriptionally similar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2633472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633472"/>
            <a:ext cx="502920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63347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" y="2679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distances NOT meaningful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5528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interpret cluster separation as quantitative distance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3639312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3639312"/>
            <a:ext cx="50292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6393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" y="3685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Stochastic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seeds → different visual layouts; cluster identities stay stable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4645152"/>
            <a:ext cx="8741664" cy="256032"/>
          </a:xfrm>
          <a:prstGeom prst="rect">
            <a:avLst>
              <a:gd name="adj" fmla="val 3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4736592"/>
            <a:ext cx="8467344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Does UMAP preserve global structure between clusters?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8: Clustering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80467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FindNeighbors(pbmc, dims = 1:30)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pbmc &lt;- FindClusters(pbmc, resolution = 0.5)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9019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 of Resolution Parameter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2304288"/>
            <a:ext cx="1280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30428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81328" y="2304288"/>
            <a:ext cx="1280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230428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2304288"/>
            <a:ext cx="243230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304288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65176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6517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– 0.3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81328" y="265176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26517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large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61488" y="2651760"/>
            <a:ext cx="24323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265176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overview of major cell types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" y="3108960"/>
            <a:ext cx="128016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1089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 ← workshop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81328" y="3108960"/>
            <a:ext cx="128016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31089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clusters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61488" y="3108960"/>
            <a:ext cx="2432304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310896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for PBMC dataset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356616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661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– 2.0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481328" y="356616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36192" y="3566160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Many, small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61488" y="3566160"/>
            <a:ext cx="24323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56616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substates &amp; rare pops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85232" y="1901952"/>
            <a:ext cx="363931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85232" y="1901952"/>
            <a:ext cx="363931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19019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Cell Counts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13248" y="2404872"/>
            <a:ext cx="34747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24048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15584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cells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13248" y="2743200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27432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15584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cells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13248" y="3081528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308152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15584" y="3081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cells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13248" y="3419856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13248" y="34198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15584" y="34198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cells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13248" y="3758184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13248" y="37581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15584" y="37581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cells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13248" y="4096512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40965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15584" y="40965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cells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50608" y="2404872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24048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52944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cells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150608" y="2743200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0608" y="27432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52944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cells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50608" y="3081528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0608" y="308152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552944" y="3081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cells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50608" y="3419856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0608" y="34198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52944" y="34198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cells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50608" y="3758184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50608" y="37581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552944" y="37581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cells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150608" y="4096512"/>
            <a:ext cx="347472" cy="256032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50608" y="40965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552944" y="40965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cells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01168" y="4553712"/>
            <a:ext cx="8741664" cy="347472"/>
          </a:xfrm>
          <a:prstGeom prst="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8328" y="4645152"/>
            <a:ext cx="8467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makes two cells 'similar'?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does resolution change the number of clusters?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9: Marker Gene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41664" cy="804672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markers &lt;- FindAllMarkers(pbmc,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D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only.pos = TRUE, min.pct = 0.25, logfc.threshold = 0.25)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874520"/>
            <a:ext cx="8741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Output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2249424"/>
            <a:ext cx="1645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249424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2249424"/>
            <a:ext cx="3200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224942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7488" y="2249424"/>
            <a:ext cx="37124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2249424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look for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596896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596896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avg_log2FC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47088" y="259689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2596896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fold change vs all other cells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7488" y="2596896"/>
            <a:ext cx="37124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2596896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cluster-specific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072384"/>
            <a:ext cx="164592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72384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pct.1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47088" y="3072384"/>
            <a:ext cx="320040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3072384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in this cluster expressing the gene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47488" y="3072384"/>
            <a:ext cx="3712464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072384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pct.1 = widely expressed in cluster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3547872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4787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pct.2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47088" y="354787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354787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in all other clusters expressing the gene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3547872"/>
            <a:ext cx="37124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547872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pct.2 = specific to this cluster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4023360"/>
            <a:ext cx="164592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023360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p_val_adj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47088" y="4023360"/>
            <a:ext cx="3200400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4023360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p-value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47488" y="4023360"/>
            <a:ext cx="3712464" cy="438912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4023360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 required; aim for much lower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4645152"/>
            <a:ext cx="8741664" cy="347472"/>
          </a:xfrm>
          <a:prstGeom prst="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736592"/>
            <a:ext cx="8467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makes a good marker gene?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does a high avg_log2FC combined with low pct.2 tell you?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10: Identify the Dominant Cell Type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Canonical PBMC Marker Genes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371600"/>
            <a:ext cx="15544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37160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(all)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137160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37160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CD3D, CD3E, TRAC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" y="1874520"/>
            <a:ext cx="1554480" cy="402336"/>
          </a:xfrm>
          <a:prstGeom prst="rect">
            <a:avLst/>
          </a:prstGeom>
          <a:solidFill>
            <a:srgbClr val="0D7C77"/>
          </a:solidFill>
          <a:ln w="12700">
            <a:solidFill>
              <a:srgbClr val="0D7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7452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CD4+ T cells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55648" y="187452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187452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IL7R, CCR7, LEF1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2377440"/>
            <a:ext cx="155448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CD8+ T cells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55648" y="237744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237744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CD8A, CD8B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880360"/>
            <a:ext cx="1554480" cy="402336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88036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cells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55648" y="288036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088" y="288036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NKG7, GNLY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3383280"/>
            <a:ext cx="1554480" cy="40233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8328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55648" y="338328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088" y="338328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MS4A1, CD79A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3886200"/>
            <a:ext cx="1554480" cy="4023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886200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55648" y="3886200"/>
            <a:ext cx="3273552" cy="402336"/>
          </a:xfrm>
          <a:prstGeom prst="rect">
            <a:avLst/>
          </a:prstGeom>
          <a:solidFill>
            <a:srgbClr val="D6F4F8"/>
          </a:solidFill>
          <a:ln w="12700">
            <a:solidFill>
              <a:srgbClr val="E8EC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47088" y="3886200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LYZ, S100A8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85232" y="960120"/>
            <a:ext cx="363931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85232" y="960120"/>
            <a:ext cx="3639312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960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Identify the Winner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14447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the largest cluster(s) by cell count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13248" y="19476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top markers by avg_log2FC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24505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Visualize on UMAP with FeaturePlot()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13248" y="29535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Cross-reference canonical markers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13248" y="345643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Justify with cluster size + gene evidence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85232" y="3858768"/>
            <a:ext cx="3639312" cy="640080"/>
          </a:xfrm>
          <a:prstGeom prst="rect">
            <a:avLst/>
          </a:prstGeom>
          <a:solidFill>
            <a:srgbClr val="D6F4F8"/>
          </a:solidFill>
          <a:ln w="12700">
            <a:solidFill>
              <a:srgbClr val="D6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38862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is the largest (279 cells).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LEF1, FHIT, MAL → Naive CD4+ T cells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" y="4645152"/>
            <a:ext cx="8741664" cy="347472"/>
          </a:xfrm>
          <a:prstGeom prst="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4736592"/>
            <a:ext cx="8467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cluster is largest? What markers does it express? Does this match expected PBMC biology?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D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A40"/>
          </a:solidFill>
          <a:ln w="12700">
            <a:solidFill>
              <a:srgbClr val="1D3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oval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Answer the Question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most abundant cell type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your PBMC dataset?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your answer with: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3832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The largest cluster's cell 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7307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Top marker genes (avg_log2FC, pct.1, pct.2)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407822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Feature plots showing canonical gene expression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B30"/>
          </a:solidFill>
          <a:ln w="12700">
            <a:solidFill>
              <a:srgbClr val="0F2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Women in Bioinformatics  ·  Sponsored by Sprout Informatics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Counts to Cell Types – scRNA-Seq Workshop</dc:title>
  <dc:subject>PptxGenJS Presentation</dc:subject>
  <dc:creator>PptxGenJS</dc:creator>
  <cp:lastModifiedBy>PptxGenJS</cp:lastModifiedBy>
  <cp:revision>1</cp:revision>
  <dcterms:created xsi:type="dcterms:W3CDTF">2026-03-03T02:25:29Z</dcterms:created>
  <dcterms:modified xsi:type="dcterms:W3CDTF">2026-03-03T02:25:29Z</dcterms:modified>
</cp:coreProperties>
</file>